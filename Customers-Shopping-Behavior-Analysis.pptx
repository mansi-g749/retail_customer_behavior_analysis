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3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orbel" panose="020B0503020204020204" pitchFamily="34" charset="0"/>
      <p:regular r:id="rId14"/>
      <p:bold r:id="rId15"/>
      <p:italic r:id="rId16"/>
      <p:boldItalic r:id="rId17"/>
    </p:embeddedFont>
    <p:embeddedFont>
      <p:font typeface="Libre Baskerville" panose="02000000000000000000" pitchFamily="2" charset="0"/>
      <p:regular r:id="rId18"/>
    </p:embeddedFont>
    <p:embeddedFont>
      <p:font typeface="Open Sans" pitchFamily="2" charset="0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1160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77368" y="292609"/>
            <a:ext cx="14069568" cy="7653527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976" y="1058851"/>
            <a:ext cx="11960352" cy="3511296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864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1436" y="4643561"/>
            <a:ext cx="10521432" cy="1665798"/>
          </a:xfrm>
        </p:spPr>
        <p:txBody>
          <a:bodyPr>
            <a:normAutofit/>
          </a:bodyPr>
          <a:lstStyle>
            <a:lvl1pPr marL="0" indent="0" algn="ctr">
              <a:buNone/>
              <a:defRPr sz="2640">
                <a:solidFill>
                  <a:srgbClr val="FFFFFF"/>
                </a:solidFill>
              </a:defRPr>
            </a:lvl1pPr>
            <a:lvl2pPr marL="548640" indent="0" algn="ctr">
              <a:buNone/>
              <a:defRPr sz="2640"/>
            </a:lvl2pPr>
            <a:lvl3pPr marL="1097280" indent="0" algn="ctr">
              <a:buNone/>
              <a:defRPr sz="2640"/>
            </a:lvl3pPr>
            <a:lvl4pPr marL="1645920" indent="0" algn="ctr">
              <a:buNone/>
              <a:defRPr sz="2400"/>
            </a:lvl4pPr>
            <a:lvl5pPr marL="2194560" indent="0" algn="ctr">
              <a:buNone/>
              <a:defRPr sz="2400"/>
            </a:lvl5pPr>
            <a:lvl6pPr marL="2743200" indent="0" algn="ctr">
              <a:buNone/>
              <a:defRPr sz="2400"/>
            </a:lvl6pPr>
            <a:lvl7pPr marL="3291840" indent="0" algn="ctr">
              <a:buNone/>
              <a:defRPr sz="2400"/>
            </a:lvl7pPr>
            <a:lvl8pPr marL="3840480" indent="0" algn="ctr">
              <a:buNone/>
              <a:defRPr sz="2400"/>
            </a:lvl8pPr>
            <a:lvl9pPr marL="438912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374393" y="4480560"/>
            <a:ext cx="987552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3536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78175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7709" y="1408290"/>
            <a:ext cx="11960352" cy="351129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864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1914" y="4985424"/>
            <a:ext cx="10522915" cy="1636567"/>
          </a:xfrm>
        </p:spPr>
        <p:txBody>
          <a:bodyPr anchor="t">
            <a:normAutofit/>
          </a:bodyPr>
          <a:lstStyle>
            <a:lvl1pPr marL="0" indent="0" algn="ctr">
              <a:buNone/>
              <a:defRPr sz="2640">
                <a:solidFill>
                  <a:schemeClr val="accent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377441" y="4824490"/>
            <a:ext cx="987552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1909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468879"/>
            <a:ext cx="5705856" cy="4828032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21134" y="2468880"/>
            <a:ext cx="5705856" cy="4828032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1257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401813"/>
            <a:ext cx="5705856" cy="932688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265780"/>
            <a:ext cx="5705856" cy="4059936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23008" y="2398838"/>
            <a:ext cx="5705856" cy="932688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23008" y="3263186"/>
            <a:ext cx="5705856" cy="4059936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28047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54323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58162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16736"/>
            <a:ext cx="4718304" cy="20848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2591" y="1316736"/>
            <a:ext cx="6254496" cy="5596128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3401568"/>
            <a:ext cx="4718304" cy="36210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20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3231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16736"/>
            <a:ext cx="4718304" cy="20848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95897" y="1283816"/>
            <a:ext cx="7318858" cy="576072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336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3401568"/>
            <a:ext cx="4718304" cy="34564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20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23748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113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914400"/>
            <a:ext cx="2788920" cy="64922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914400"/>
            <a:ext cx="8915400" cy="64922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01888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659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1326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635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168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954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4375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5928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7838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082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331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77368" y="292609"/>
            <a:ext cx="14069568" cy="765352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731520"/>
            <a:ext cx="11850624" cy="16276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2468880"/>
            <a:ext cx="11847445" cy="4846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595" y="7468594"/>
            <a:ext cx="279488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accent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38978" y="7468594"/>
            <a:ext cx="566132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5437" y="7468594"/>
            <a:ext cx="20474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801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19456" algn="l" defTabSz="1097280" rtl="0" eaLnBrk="1" latinLnBrk="0" hangingPunct="1">
        <a:lnSpc>
          <a:spcPct val="90000"/>
        </a:lnSpc>
        <a:spcBef>
          <a:spcPts val="1680"/>
        </a:spcBef>
        <a:buClr>
          <a:schemeClr val="accent1"/>
        </a:buClr>
        <a:buSzPct val="80000"/>
        <a:buFont typeface="Corbel" pitchFamily="34" charset="0"/>
        <a:buChar char="•"/>
        <a:defRPr sz="264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48640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877824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216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207008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536192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92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28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64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8pPr>
      <a:lvl9pPr marL="300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ity.club/lists/suggestions/professional-thank-you-images-hd/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94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1520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647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 Records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13742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Transactional data analyzed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261520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647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Fields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13742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and purchase details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261520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3647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13742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ratings imputed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49822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Data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3790" y="5563433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Age, Gender, Location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Subscription Status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Previous Purchases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49822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 Details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99521" y="5563433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Item, Category, Amount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Season, Size, Color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Discount Applied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080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Python Data Preparation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03496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6962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203496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Exploration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Checked structure and summary statistics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40133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203496"/>
            <a:ext cx="419635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133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Handled missing values, standardized columns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499086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23165"/>
            <a:ext cx="6407944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age groups and purchase frequency metrics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428548" y="499086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5323165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Loaded cleaned data into PostgreSQL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1077"/>
            <a:ext cx="90954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Analysis: Revenue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09580"/>
            <a:ext cx="43118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Gender Revenue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90724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generated </a:t>
            </a:r>
            <a:r>
              <a:rPr lang="en-US" sz="17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$157,890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vs. Female customers at </a:t>
            </a:r>
            <a:r>
              <a:rPr lang="en-US" sz="17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$75,191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80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Impact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06158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 shipping: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$60.48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average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62856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shipping: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$58.46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average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3255169"/>
            <a:ext cx="4885015" cy="27680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81207"/>
            <a:ext cx="62459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Performance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130147"/>
            <a:ext cx="3664744" cy="2577108"/>
          </a:xfrm>
          <a:prstGeom prst="roundRect">
            <a:avLst>
              <a:gd name="adj" fmla="val 1320"/>
            </a:avLst>
          </a:prstGeom>
          <a:solidFill>
            <a:srgbClr val="EAE8F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2356961"/>
            <a:ext cx="680442" cy="68044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2544008"/>
            <a:ext cx="306110" cy="30611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20604" y="3264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Rated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020604" y="3754636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Gloves (3.86), Sandals (3.84), Boots (3.82)</a:t>
            </a:r>
            <a:endParaRPr lang="en-US" sz="1750" dirty="0"/>
          </a:p>
        </p:txBody>
      </p:sp>
      <p:sp>
        <p:nvSpPr>
          <p:cNvPr id="9" name="Shape 4"/>
          <p:cNvSpPr/>
          <p:nvPr/>
        </p:nvSpPr>
        <p:spPr>
          <a:xfrm>
            <a:off x="4685348" y="2130147"/>
            <a:ext cx="3664863" cy="2577108"/>
          </a:xfrm>
          <a:prstGeom prst="roundRect">
            <a:avLst>
              <a:gd name="adj" fmla="val 1320"/>
            </a:avLst>
          </a:prstGeom>
          <a:solidFill>
            <a:srgbClr val="EAE8F3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2162" y="2356961"/>
            <a:ext cx="680442" cy="680442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99328" y="2544008"/>
            <a:ext cx="306110" cy="30611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912162" y="3264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Discounted</a:t>
            </a:r>
            <a:endParaRPr lang="en-US" sz="2200" dirty="0"/>
          </a:p>
        </p:txBody>
      </p:sp>
      <p:sp>
        <p:nvSpPr>
          <p:cNvPr id="13" name="Text 6"/>
          <p:cNvSpPr/>
          <p:nvPr/>
        </p:nvSpPr>
        <p:spPr>
          <a:xfrm>
            <a:off x="4912162" y="3754636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 (50%), Sneakers (49.66%), Coat (49.07%)</a:t>
            </a:r>
            <a:endParaRPr lang="en-US" sz="1750" dirty="0"/>
          </a:p>
        </p:txBody>
      </p:sp>
      <p:sp>
        <p:nvSpPr>
          <p:cNvPr id="14" name="Shape 7"/>
          <p:cNvSpPr/>
          <p:nvPr/>
        </p:nvSpPr>
        <p:spPr>
          <a:xfrm>
            <a:off x="793790" y="4934069"/>
            <a:ext cx="7556421" cy="2214205"/>
          </a:xfrm>
          <a:prstGeom prst="roundRect">
            <a:avLst>
              <a:gd name="adj" fmla="val 1537"/>
            </a:avLst>
          </a:prstGeom>
          <a:solidFill>
            <a:srgbClr val="EAE8F3"/>
          </a:solidFill>
          <a:ln/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604" y="5160883"/>
            <a:ext cx="680442" cy="680442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7770" y="5347930"/>
            <a:ext cx="306110" cy="30611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20604" y="6068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Best Sellers</a:t>
            </a:r>
            <a:endParaRPr lang="en-US" sz="2200" dirty="0"/>
          </a:p>
        </p:txBody>
      </p:sp>
      <p:sp>
        <p:nvSpPr>
          <p:cNvPr id="18" name="Text 9"/>
          <p:cNvSpPr/>
          <p:nvPr/>
        </p:nvSpPr>
        <p:spPr>
          <a:xfrm>
            <a:off x="1020604" y="6558558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Jewelry, Blouse, Pants, Sandals, Jacket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615434"/>
            <a:ext cx="6417350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576030" y="2966323"/>
            <a:ext cx="2528292" cy="513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79%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15" y="1681639"/>
            <a:ext cx="3083362" cy="30833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5552" y="5002530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 Customers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19376" y="5435322"/>
            <a:ext cx="424195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3,116 repeat buyers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50875" y="2966323"/>
            <a:ext cx="2528292" cy="513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18%</a:t>
            </a:r>
            <a:endParaRPr lang="en-US" sz="4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460" y="1681639"/>
            <a:ext cx="3083362" cy="30833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30397" y="5002530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194102" y="5435322"/>
            <a:ext cx="4242078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701 customers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525601" y="2966323"/>
            <a:ext cx="2528292" cy="513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2%</a:t>
            </a:r>
            <a:endParaRPr lang="en-US" sz="4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186" y="1681639"/>
            <a:ext cx="3083362" cy="30833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05123" y="5002530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9668947" y="5435322"/>
            <a:ext cx="424195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 first-time buyers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19376" y="6144578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Status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719376" y="6651903"/>
            <a:ext cx="634507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27% subscribed (1,053 customers)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19376" y="7133034"/>
            <a:ext cx="634507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73% non-subscribed (2,847 customers)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573566" y="6144578"/>
            <a:ext cx="2665809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 Frequency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7573566" y="6651903"/>
            <a:ext cx="634507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839 customers used discounts above average spend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573566" y="7133034"/>
            <a:ext cx="634507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958 repeat buyers (&gt;5 purchases)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344" y="570309"/>
            <a:ext cx="4703564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 Group Analysis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57344" y="1390531"/>
            <a:ext cx="7829312" cy="1450538"/>
          </a:xfrm>
          <a:prstGeom prst="roundRect">
            <a:avLst>
              <a:gd name="adj" fmla="val 1942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7966" y="160115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Young Adult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67966" y="1987868"/>
            <a:ext cx="740806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$62,143</a:t>
            </a: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revenue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7966" y="2355771"/>
            <a:ext cx="740806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18-30 years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57344" y="2996565"/>
            <a:ext cx="7829312" cy="1450538"/>
          </a:xfrm>
          <a:prstGeom prst="roundRect">
            <a:avLst>
              <a:gd name="adj" fmla="val 1942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966" y="3207187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Middle-aged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7966" y="3593902"/>
            <a:ext cx="740806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$59,197</a:t>
            </a: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revenue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67966" y="3961805"/>
            <a:ext cx="740806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31-45 years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57344" y="4602599"/>
            <a:ext cx="7829312" cy="1450538"/>
          </a:xfrm>
          <a:prstGeom prst="roundRect">
            <a:avLst>
              <a:gd name="adj" fmla="val 1942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7966" y="4813221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Adult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7966" y="5199936"/>
            <a:ext cx="740806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$55,978</a:t>
            </a: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revenue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67966" y="5567839"/>
            <a:ext cx="740806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46-59 years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57344" y="6208633"/>
            <a:ext cx="7829312" cy="1450538"/>
          </a:xfrm>
          <a:prstGeom prst="roundRect">
            <a:avLst>
              <a:gd name="adj" fmla="val 1942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7966" y="641925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Senior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67966" y="6805970"/>
            <a:ext cx="740806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$55,763</a:t>
            </a: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revenue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67966" y="7173873"/>
            <a:ext cx="740806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60-70 years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39860"/>
            <a:ext cx="59402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8880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2866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Metrics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35708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3,900 customers, $59.76 average purchase, 3.75 average rating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1736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1530906" y="42514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Filters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30906" y="474190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Subscription status, gender, category, shipping type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55843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56363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Visualizations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12671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by category and age group, customer segmentation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490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59794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82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Gap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3315176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spend 2.1x more than female customers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95882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67606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79% of customers are loyal repeat buyers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319713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546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 Strategy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6036945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High-discount products drive sales but impact margins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81985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EAE8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2232303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419350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604" y="3139559"/>
            <a:ext cx="2880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benefits for subscribers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2005489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EAE8F3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3776" y="2232303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2419350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43776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43776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 move into loyal segment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2005489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EAE8F3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6948" y="2232303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2419350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66948" y="3139559"/>
            <a:ext cx="34028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66948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boosts with margin control</a:t>
            </a:r>
            <a:endParaRPr lang="en-US" sz="1750" dirty="0"/>
          </a:p>
        </p:txBody>
      </p:sp>
      <p:sp>
        <p:nvSpPr>
          <p:cNvPr id="18" name="Shape 10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EAE8F3"/>
          </a:solidFill>
          <a:ln/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604" y="5036225"/>
            <a:ext cx="680442" cy="680442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20604" y="5943481"/>
            <a:ext cx="28763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1020604" y="643389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 top-rated and best-selling products</a:t>
            </a:r>
            <a:endParaRPr lang="en-US" sz="1750" dirty="0"/>
          </a:p>
        </p:txBody>
      </p:sp>
      <p:sp>
        <p:nvSpPr>
          <p:cNvPr id="23" name="Shape 13"/>
          <p:cNvSpPr/>
          <p:nvPr/>
        </p:nvSpPr>
        <p:spPr>
          <a:xfrm>
            <a:off x="7428548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EAE8F3"/>
          </a:solidFill>
          <a:ln/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55362" y="5036225"/>
            <a:ext cx="680442" cy="680442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7655362" y="5943481"/>
            <a:ext cx="28592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27" name="Text 15"/>
          <p:cNvSpPr/>
          <p:nvPr/>
        </p:nvSpPr>
        <p:spPr>
          <a:xfrm>
            <a:off x="7655362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high-revenue age groups and express-shipping users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B43B06-563A-93A9-CB66-29480322E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88715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5</TotalTime>
  <Words>381</Words>
  <Application>Microsoft Office PowerPoint</Application>
  <PresentationFormat>Custom</PresentationFormat>
  <Paragraphs>113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Libre Baskerville Light</vt:lpstr>
      <vt:lpstr>Open Sans</vt:lpstr>
      <vt:lpstr>Corbel</vt:lpstr>
      <vt:lpstr>Libre Baskerville</vt:lpstr>
      <vt:lpstr>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Mansi Gupta</dc:creator>
  <cp:lastModifiedBy>Mansi Gupta</cp:lastModifiedBy>
  <cp:revision>2</cp:revision>
  <dcterms:created xsi:type="dcterms:W3CDTF">2026-05-02T18:30:28Z</dcterms:created>
  <dcterms:modified xsi:type="dcterms:W3CDTF">2026-05-02T18:37:31Z</dcterms:modified>
</cp:coreProperties>
</file>